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Starbucks Australia lesson sourced in 01_secondary_research/secondary_research_report.md §12. Use as analogy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evidence table with URLs and dates: 01_secondary_research/evidence_table.csv (68 claims).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verification status: 01_secondary_research/ownly_restaurant_and_user_segments.md and ownly_segments_evidence.csv.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0B0B0B"/>
                </a:solidFill>
                <a:latin typeface="Arial"/>
              </a:defRPr>
            </a:pPr>
            <a:r>
              <a:t>Does Ownly's Bengaluru proposition transfer to Gachibowli?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2514E"/>
                </a:solidFill>
                <a:latin typeface="Arial"/>
              </a:defRPr>
            </a:pPr>
            <a:r>
              <a:t>Early market-fit validation among 20–30-year-old students and working professionals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2514E"/>
                </a:solidFill>
                <a:latin typeface="Arial"/>
              </a:defRPr>
            </a:pPr>
            <a:r>
              <a:t>[Team names] · [Course] · 17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9A5B00"/>
                </a:solidFill>
                <a:latin typeface="Arial"/>
              </a:defRPr>
            </a:pPr>
            <a:r>
              <a:t>One-line answer: [TO FILL on 17 Sep — SCALE / ADAPT / TARGET SELECTIVELY, with confidence level]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WHY THIS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A proposition that works in one city is not proof it works in the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Starbucks Australia (analogy only): it closed about three-quarters of its Australian stores in 2008 after overestimating its differentiation and expanding too fast into an established local coffee culture (Patterson, Scott &amp; Uncles, 2010).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Ownly (Rapido's food-delivery app) grew fast in Bengaluru with a zero-commission, low-fee proposition, and now says it is live in Hyderabad.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Our question: are the conditions behind Bengaluru's traction present in Gachibowli — for whom, and at what trade-offs?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73736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Decision options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SCALE — proposition transfers as 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ADAPT — need exists, but price or experience must 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TARGET SELECTIVELY — works for one segment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RETHINK — need or switching potential absent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WHAT IS CLAIMED VS WHAT IS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Several widely repeated Ownly 'facts' are unverified or contradicted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66928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What we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Evidence label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50,000 orders/day, ~10% Bengaluru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Traces to a single upstream media report copied by 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MEDIA REPORT (single source)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₹30 flat delivery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Contradicted: App Store says 'Free delivery'; users report ₹0/₹15; a blog says distance-based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CONTESTED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~15% cheaper than Swiggy/Zomato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Pilot-era (Aug 2025) positioning, not a measured 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COMPANY CLAIM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20,000 / 22,000 / 25,000 restaurants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Sources disagree; the company's own site says 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COMPANY CLAIM / MEDIA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Ownly is live in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Ownly's site says so; no dated independent report; posts suggest launch late Aug – ~11 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COMPANY CLAIM + INTERPRETATION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Incumbent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Platform fee ₹17.58 incl. GST (Swiggy &amp; Zomato, national, Mar 2026); 18% GST on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MEDIA REPORT (national, not Hyderabad)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New affordability rival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Swiggy's budget app Toing targets students/young professionals; Hyderabad availability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MEDIA REPORT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WHO OWNLY TARGETS (SECONDARY RESEARCH)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Ownly pitches local eateries and first-time online orderers, but showcases popular regional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Restaurants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Evidence (label)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Stated target: local/regional eateries incumbents 'aren't built for'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CEO interview, Jul 2026 (COMPANY CLAIM, verified)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~70,000 unlisted Bengaluru outlets: thaali places, tiffin centres, dhabas; 15% of onboarded were new to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Inc42, 25 Mar 2026 (MEDIA REPORT, verified)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Pilot rules: ≥4 'Meals for One' under ₹150; dine-in prices; no packaging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Storyboard18, Aug 2025 (MEDIA REPORT, verified)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Showcase partners are well-known regional chains: Empire, Vidyarthi Bhavan (BLR); Paradise, Bawarchi, Cream Stone (HYD)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Press release; ownly.food/hyd (COMPANY CLAIM)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KFC &amp; McDonald's (via magicpin) went offline in 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Financial Express (MEDIA REPORT, snippet)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50876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Evidence (label)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Price-sensitive diners; 'affordability is the biggest deterrent'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CEO interview (COMPANY CLAIM, verified)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Rapido riders who have never ordered food online; goal of 100M online orderers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Company statements (COMPANY CLAIM)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Everyday low prices, not coupons; 'pay for Food + Delivery'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Launch coverage, Instagram (COMPANY CLAIM)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No stated age or occupation target; no data on actual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Analysts group budget apps with 'students and younger users'; say Toing 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JP Morgan via Storyboard18 (MEDIA REPORT, no metrics)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2514E"/>
                </a:solidFill>
                <a:latin typeface="Arial"/>
              </a:defRPr>
            </a:pPr>
            <a:r>
              <a:t>So what (INTERPRETATION): our 20–30 Gachibowli users fit Ownly's price point, but most already use Swiggy/Zomato. For Ownly they are a switching segment, not the first-time orderers it says it is chasing. The audit therefore samples showcase chains, local budget eateries and national QSRs.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What we could collect in 3 days, ethically, with ₹900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651760"/>
                <a:gridCol w="3200400"/>
                <a:gridCol w="19202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What it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Limits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Secondary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68 sourced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Claims vs facts; market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Mostly national/Bengaluru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Public customer voice (app stores, Reddit, LinkedIn,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37 reviews + 524 posts (108 first-hand)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Bengaluru benchmark: what drives use and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Self-selected; not prevalence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Competitor price audit, Gachibowli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[n] captures, [n] matched 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Is Ownly actually cheaper at checkout, after coupons?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Team accounts; 3 slots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Test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 orders (₹900)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Promised vs actual delivery time, fees charged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Anecdotal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Short survey (7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[n] valid, 20–30, Gachibowli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Fee pain, switching threshold, trade-offs, Ownly funnel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Convenience sample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Short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[n] (students / professionals)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Why behind the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Not prevalence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2514E"/>
                </a:solidFill>
                <a:latin typeface="Arial"/>
              </a:defRPr>
            </a:pPr>
            <a:r>
              <a:t>All activities approved by [instructor] on [date]. No incentives, no deception, no personal identifiers stored.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52514E"/>
                </a:solidFill>
                <a:latin typeface="Arial"/>
              </a:defRPr>
            </a:pPr>
            <a:r>
              <a:t>Dropped for time/ethics: Bengaluru survey, fake-door landing page, full choice experiment (designs retained as next-phase appendix).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PUBLIC CUSTOMER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Bengaluru benchmark: price attracts, but failures after ordering drive the loudest complaints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pic>
        <p:nvPicPr>
          <p:cNvPr id="5" name="Picture 4" descr="social_theme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766560" cy="3454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Price is praised before ordering; harm happens after dispatch (non-delivery, rider issues, support).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Savings are contested: all 6 user-posted bill comparisons favour Ownly, but 18 posts say coupons/card offers erased the gap.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37 posts expect prices or fees to rise later ('enjoy while it lasts').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Payment gaps noticed: no cash on delivery, no meal cards (Pluxee).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Label: CONSUMER-GENERATED signals — they tell us what to measure, not how common it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PUBLIC CUSTOMER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App-store reviews independently show the same failure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pic>
        <p:nvPicPr>
          <p:cNvPr id="5" name="Picture 4" descr="appstore_t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766560" cy="3454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Two independent public sources converge: support, refunds, cancellations and lateness.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Positive reviews praise price and 'no hidden fees'.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Caution: only 37 reviews were accessible within the stores' crawling rules, and they skew negative versus the 4.5★ averages.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Implication to test in Gachibowli: does reliability outweigh a ₹30 saving? (slide 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MARKET REALITY: COMPETITOR PRICE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[Insight title after audit] — Is Ownly cheaper at checkout in Gachibowli?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2276856"/>
          </a:xfrm>
          <a:prstGeom prst="rect">
            <a:avLst/>
          </a:prstGeom>
          <a:solidFill>
            <a:srgbClr val="FDF6E7"/>
          </a:solidFill>
          <a:ln>
            <a:solidFill>
              <a:srgbClr val="E0B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A5B00"/>
                </a:solidFill>
                <a:latin typeface="Arial"/>
              </a:defRPr>
            </a:pPr>
            <a:r>
              <a:t>TO FILL AFTER DATA COLLECTION (15–16 Sep) — do not present until real numbers are in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Price per basket (median final payable) per app — from audit_report.md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Median gap Ownly − Swiggy and Ownly − Zomato with 95% CI: (a) without coupons, (b) after coupons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Win rate (Ownly cheapest, tie ≤ ₹5) and fee share of bill per app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Coverage: share of 10 popular restaurants listed &amp; open on Ownly; ETA gap (minutes)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Test orders: promised vs actual delivery time; fee actually charged (n = 3, anecdotal)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Chart: dot-plot of gaps per restaurant with median line; title states the finding only if CI excludes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GACHIBOWLI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[Insight title after survey] — How painful are fees, and what saving makes people switch?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1965960"/>
          </a:xfrm>
          <a:prstGeom prst="rect">
            <a:avLst/>
          </a:prstGeom>
          <a:solidFill>
            <a:srgbClr val="FDF6E7"/>
          </a:solidFill>
          <a:ln>
            <a:solidFill>
              <a:srgbClr val="E0B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A5B00"/>
                </a:solidFill>
                <a:latin typeface="Arial"/>
              </a:defRPr>
            </a:pPr>
            <a:r>
              <a:t>TO FILL AFTER DATA COLLECTION (15–16 Sep) — do not present until real numbers are in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Price Pain Index median (0–100) with CI; % whose checkout charges made them reconsider (H1.1); cart abandonment (H1.4)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Top-3 frustrations: price/fee vs late/cancel (H1.2) — sorted bar with n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Required saving to switch (median ₹) vs audit median saving (H2.3) — the key economic test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Transparency: simple vs itemised bill at equal ₹245 (H2.2)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Students vs working professionals side by side (only if each n ≥ 20; else note 'directional')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[Insight title after survey] — What will people give up for ₹30 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1965960"/>
          </a:xfrm>
          <a:prstGeom prst="rect">
            <a:avLst/>
          </a:prstGeom>
          <a:solidFill>
            <a:srgbClr val="FDF6E7"/>
          </a:solidFill>
          <a:ln>
            <a:solidFill>
              <a:srgbClr val="E0B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A5B00"/>
                </a:solidFill>
                <a:latin typeface="Arial"/>
              </a:defRPr>
            </a:pPr>
            <a:r>
              <a:t>TO FILL AFTER DATA COLLECTION (15–16 Sep) — do not present until real numbers are in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% choosing ₹30 cheaper but 15 min slower (H3)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% choosing ₹30 cheaper but late 3 in 10 vs 1 in 10 (H4)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% choosing ₹30 cheaper but only a few usual restaurants (H5)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Rule: '₹30 buys the compromise' only if the CI lower bound &gt; 50% (stated, hypothetical preference)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Max acceptable dinner ETA (median); delivery-fee acceptance curve from the max-fee question (H8)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ADOPTION &amp; COURSE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[Insight title after survey] — Ownly's early funnel in Gachibowli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1965960"/>
          </a:xfrm>
          <a:prstGeom prst="rect">
            <a:avLst/>
          </a:prstGeom>
          <a:solidFill>
            <a:srgbClr val="FDF6E7"/>
          </a:solidFill>
          <a:ln>
            <a:solidFill>
              <a:srgbClr val="E0B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A5B00"/>
                </a:solidFill>
                <a:latin typeface="Arial"/>
              </a:defRPr>
            </a:pPr>
            <a:r>
              <a:t>TO FILL AFTER DATA COLLECTION (15–16 Sep) — do not present until real numbers are in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Aided awareness → tried → repeat (≥2 orders in 4 weeks) with n at each step; aware→tried conversion (say–do gap)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Penetration share = tried ÷ delivery users; brand development index students vs professionals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Share of requirements &amp; heavy-usage index → market-share decomposition (only if ≥10 Ownly triers)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Trial intent before vs after revealing 'Ownly by Rapido' (brand effect, within-subject)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Top reasons for not trying (incl. payment method not accepted)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MARKET-TRANSFER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Bengaluru assumption → Gachibowli evidence → does it transfer?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566160"/>
                <a:gridCol w="329184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Bengaluru 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Bengaluru evidence (public, labelled)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Gachibowli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Lower total price triggers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6/6 user bill comparisons favour Ownly; 18 posts report no win after coupons (CONSUMER-GENERATED)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[Audit gap after coupons; required saving]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[TRANSFERABLE / ADAPT / NOT / UNKNOWN]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Delivery fee is 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Fee contested (₹0 / ₹15 / ₹30)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[Observed fee; % accepting that fee]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 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Reliability good enough to 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46 fulfilment + 29 support/refund failures in first-hand 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[Trade-off H4; test orders; Ownly users' on-time rating]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 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Restaurant coverage 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'Limited restaurants' 8 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[Audit coverage; % needing most usual restaurants]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 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Rapido brand builds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Two-sided mentions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[Intent before vs after reveal]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 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Users switch easily (multi-home)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'Just keep switching' posts; coupons pull users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[% using ≥2 apps; memberships]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[ 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52514E"/>
                </a:solidFill>
                <a:latin typeface="Arial"/>
              </a:defRPr>
            </a:pPr>
            <a:r>
              <a:t>Verdict rules (pre-registered): TRANSFERABLE = need present and not weaker; ADAPT = need present but a condition is worse; NOT = need absent; UNKNOWN = not enough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9A5B00"/>
                </a:solidFill>
                <a:latin typeface="Arial"/>
              </a:defRPr>
            </a:pPr>
            <a:r>
              <a:t>Working position going into data collection (HYPOTHESIS, to be confirmed or rejected by slides 7–11):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ADAPT rather than copy Bengaluru: lead with a fair total price you can rely on, not 'cheapest'.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Guardrail before scaling: support and refund resolution; delivery-time parity at dinner peak.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Start with small, frequent solo orders from students and young professionals; add payment options (COD / meal cards).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Don't compete on coupons against Swiggy/Zomato.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11064240" cy="1033272"/>
          </a:xfrm>
          <a:prstGeom prst="rect">
            <a:avLst/>
          </a:prstGeom>
          <a:solidFill>
            <a:srgbClr val="FDF6E7"/>
          </a:solidFill>
          <a:ln>
            <a:solidFill>
              <a:srgbClr val="E0B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A5B00"/>
                </a:solidFill>
                <a:latin typeface="Arial"/>
              </a:defRPr>
            </a:pPr>
            <a:r>
              <a:t>TO FILL AFTER DATA COLLECTION (15–16 Sep) — do not present until real numbers are in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Final recommendation (SCALE / ADAPT / TARGET SELECTIVELY / RETHINK) with confidence level and the evidence that decided it</a:t>
            </a:r>
          </a:p>
          <a:p>
            <a:pPr>
              <a:defRPr sz="1200">
                <a:solidFill>
                  <a:srgbClr val="0B0B0B"/>
                </a:solidFill>
                <a:latin typeface="Arial"/>
              </a:defRPr>
            </a:pPr>
            <a:r>
              <a:t>• What would change our mind; next experiment (the full 5-week design in the appendix)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HONESTY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Limitations and next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3-day window, convenience sample around Gachibowli — results describe our respondents, not Hyderabad.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No Bengaluru survey: the Bengaluru benchmark relies on self-selected public posts and reviews.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Survey trade-offs and intent are stated preferences; the price audit reflects the team's own accounts and 3 time slots.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Scenario KPIs (growth rate, contribution per order, CLV) use media figures and assumptions, not company data.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B0B0B"/>
                </a:solidFill>
                <a:latin typeface="Arial"/>
              </a:defRPr>
            </a:pPr>
            <a:r>
              <a:t>Next phase (designed, in appendix): 220-person Hyderabad survey with a choice experiment and randomised brand test; 150-person Bengaluru Ownly-user survey; 2-week audit; 16 interviews; value-proposition landing-page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Appendix: course KPIs we can compute now (scenarios, clearly labelled)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80560"/>
                <a:gridCol w="237744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KPI (course formula)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Label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Compound monthly growth (CAGR)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(50,000 ÷ 5,000)^(1/5) − 1, Bengaluru daily orders Mar→Aug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≈ 58.5%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MEDIA REPORT inputs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Contribution per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Delivery fee − rider payout − ₹5 other; fee ₹0–30 vs payout ₹30–60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−₹65 to −₹5 per order (positive only if payout &lt; fee − ₹5)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ASSUMPTION scenario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Break-even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Fixed costs ÷ contribution per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Not reachable while contribution ≤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ASSUMPTION scenario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Customer lifetime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Margin × r ÷ (1 + d − r), d = 1%/month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₹50 margin: ₹73 at 60% retention vs ₹409 at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ASSUMPTION scenario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2514E"/>
                </a:solidFill>
                <a:latin typeface="Arial"/>
              </a:defRPr>
            </a:pPr>
            <a:r>
              <a:t>Takeaway (INTERPRETATION): retention multiplies value far more than margin, so reliability that keeps users is worth more than deeper discounts.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52514E"/>
                </a:solidFill>
                <a:latin typeface="Arial"/>
              </a:defRPr>
            </a:pPr>
            <a:r>
              <a:t>Full working: 09_analysis/short_plan/scenario_kpis.md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C5CAB"/>
                </a:solidFill>
                <a:latin typeface="Arial"/>
              </a:defRPr>
            </a:pPr>
            <a: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B0B0B"/>
                </a:solidFill>
                <a:latin typeface="Arial"/>
              </a:defRPr>
            </a:pPr>
            <a:r>
              <a:t>Appendix: digital-funnel KPIs (practice dataset, not Ownly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DRAFT — 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Marketing Metrics 1000 Records.csv: generic 2024–25 USD campaign data (8 channels). Formulas check out (CTR, conversion rate, ROAS, CPA reproduce in 1000/1000 rows).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Data-quality flag: conversions exceed qualified leads in 325/1000 rows; near-identical ROAS across channels suggests synthetic data.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How these KPIs would apply to Ownly's Gachibowli launch: CTR and conversion rate of launch ads; CPA (= average acquisition cost) compared with CLV (Appendix A).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Applied to our own survey recruitment: completes ÷ starts by channel; cost per valid response = ₹0.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